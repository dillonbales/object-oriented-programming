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92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55"/>
    <p:restoredTop sz="94444"/>
  </p:normalViewPr>
  <p:slideViewPr>
    <p:cSldViewPr snapToGrid="0" snapToObjects="1">
      <p:cViewPr varScale="1">
        <p:scale>
          <a:sx n="68" d="100"/>
          <a:sy n="68" d="100"/>
        </p:scale>
        <p:origin x="249" y="60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814561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2"/>
              </a:buClr>
              <a:buSzPct val="250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</a:t>
            </a:r>
            <a:r>
              <a:rPr lang="en-US" sz="1100" b="0" i="0" u="none" strike="noStrike" cap="none" baseline="0" dirty="0">
                <a:solidFill>
                  <a:schemeClr val="dk2"/>
                </a:solidFill>
              </a:rPr>
              <a:t> </a:t>
            </a:r>
            <a:r>
              <a:rPr lang="en-US" sz="1100" b="0" i="0" u="none" strike="noStrike" cap="none" dirty="0">
                <a:solidFill>
                  <a:schemeClr val="dk2"/>
                </a:solidFill>
              </a:rPr>
              <a:t>page(s) at the end.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555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1707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154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207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6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60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599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0" name="Shape 2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69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489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1704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92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3" name="Shape 2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0884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1414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1" name="Shape 3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6800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1" name="Shape 3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5831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8" name="Shape 3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8305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3" name="Shape 3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1863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554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9" name="Shape 3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0042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669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2" name="Shape 4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339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3" name="Shape 4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523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3" name="Shape 4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2726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6" name="Shape 4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59329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7" name="Shape 4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0953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8" name="Shape 4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66674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919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9" name="Shape 4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65960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2" name="Shape 4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48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2" name="Shape 5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1718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0" name="Shape 5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071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5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5" name="Shape 5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88564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5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Shape 5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21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pe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814388"/>
            <a:ext cx="13932000" cy="17255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814388"/>
            <a:ext cx="13932000" cy="17255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283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66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704" r:id="rId3"/>
    <p:sldLayoutId id="214748370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FFFF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Regular_express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Regular_express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xkcd.com/208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.jpg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Expressions</a:t>
            </a:r>
          </a:p>
        </p:txBody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Chapter 11</a:t>
            </a:r>
          </a:p>
        </p:txBody>
      </p:sp>
      <p:sp>
        <p:nvSpPr>
          <p:cNvPr id="206" name="Shape 206"/>
          <p:cNvSpPr txBox="1"/>
          <p:nvPr/>
        </p:nvSpPr>
        <p:spPr>
          <a:xfrm>
            <a:off x="2990025" y="6988169"/>
            <a:ext cx="9985799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www.py4e.com</a:t>
            </a:r>
            <a:endParaRPr lang="en-US" sz="3200" u="none" strike="noStrike" cap="none" dirty="0">
              <a:solidFill>
                <a:srgbClr val="FFFF00"/>
              </a:solidFill>
              <a:latin typeface="Arial Regular" charset="0"/>
              <a:ea typeface="Arial Regular" charset="0"/>
              <a:cs typeface="Arial Regular" charset="0"/>
              <a:sym typeface="Cabin"/>
            </a:endParaRPr>
          </a:p>
        </p:txBody>
      </p:sp>
      <p:pic>
        <p:nvPicPr>
          <p:cNvPr id="207" name="Shape 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0212" y="7346944"/>
            <a:ext cx="1968500" cy="668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Shape 2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325" y="6669169"/>
            <a:ext cx="1346100" cy="13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Expressions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2417650" y="7304649"/>
            <a:ext cx="114081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  <a:hlinkClick r:id="rId3"/>
              </a:rPr>
              <a:t>http://en.wikipedia.org/wiki/Regular_expression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2806700" y="2946400"/>
            <a:ext cx="10642499" cy="4281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In computing, a regular expression, also referred to as 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regex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or 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regexp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, provides a concise and flexible means for matching strings of text, such as particular characters, words, or patterns of characters. A regular expression is written in a formal language </a:t>
            </a:r>
            <a:r>
              <a:rPr lang="en-US" sz="3600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that can be int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erpreted by a regular expression processor.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Expressions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2641600" y="2844800"/>
            <a:ext cx="10642599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Really clever </a:t>
            </a:r>
            <a:r>
              <a:rPr lang="en-US" sz="38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8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wild card</a:t>
            </a:r>
            <a:r>
              <a:rPr lang="en-US" sz="38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8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expressions for matching and parsing strings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2540075" y="8115300"/>
            <a:ext cx="114081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  <a:hlinkClick r:id="rId3"/>
              </a:rPr>
              <a:t>http://en.wikipedia.org/wiki/Regular_expression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Shape 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0164" y="914475"/>
            <a:ext cx="9148570" cy="6373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Shape 228"/>
          <p:cNvSpPr txBox="1"/>
          <p:nvPr/>
        </p:nvSpPr>
        <p:spPr>
          <a:xfrm>
            <a:off x="2857500" y="7645400"/>
            <a:ext cx="104138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Really smart “Find” or “Search”</a:t>
            </a:r>
          </a:p>
        </p:txBody>
      </p:sp>
      <p:sp>
        <p:nvSpPr>
          <p:cNvPr id="229" name="Shape 229"/>
          <p:cNvSpPr/>
          <p:nvPr/>
        </p:nvSpPr>
        <p:spPr>
          <a:xfrm flipH="1">
            <a:off x="12636449" y="1343100"/>
            <a:ext cx="1269899" cy="660300"/>
          </a:xfrm>
          <a:prstGeom prst="rightArrow">
            <a:avLst>
              <a:gd name="adj1" fmla="val 42844"/>
              <a:gd name="adj2" fmla="val 43131"/>
            </a:avLst>
          </a:prstGeom>
          <a:solidFill>
            <a:srgbClr val="00FF00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Understanding Regular Expressions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28376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Very powerful and quite cryptic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Fun once you understand them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expressions are a language unto themselves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 language of 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marker characters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- programming with characters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It is kind of an 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old school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language - compact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Shape 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5925" y="829037"/>
            <a:ext cx="7343776" cy="734341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hape 241"/>
          <p:cNvSpPr txBox="1"/>
          <p:nvPr/>
        </p:nvSpPr>
        <p:spPr>
          <a:xfrm>
            <a:off x="10427225" y="6931025"/>
            <a:ext cx="51527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u="sng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  <a:hlinkClick r:id="rId4"/>
              </a:rPr>
              <a:t>http://</a:t>
            </a:r>
            <a:r>
              <a:rPr lang="en-US" sz="3800" u="sng" strike="noStrike" cap="none" dirty="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  <a:hlinkClick r:id="rId4"/>
              </a:rPr>
              <a:t>xkcd.com/208/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 Quick Guide</a:t>
            </a:r>
          </a:p>
        </p:txBody>
      </p:sp>
      <p:sp>
        <p:nvSpPr>
          <p:cNvPr id="247" name="Shape 247"/>
          <p:cNvSpPr txBox="1"/>
          <p:nvPr/>
        </p:nvSpPr>
        <p:spPr>
          <a:xfrm>
            <a:off x="2565400" y="2539900"/>
            <a:ext cx="11607801" cy="519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^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Matches the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beginning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of a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$ 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Matches the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end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of the line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.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Matches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any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character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Matches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whitespace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Matches any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non-whitespace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character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*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Repeats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a character zero or more times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*?  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Repeats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a character zero or more times (non-greedy)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+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Repeats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a character one or more times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+?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Repeats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a character one or more times (non-greedy)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[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aeiou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Matches a single character in the listed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set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[^XYZ]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Matches a single character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not 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the listed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set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[a-z0-9]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The set of characters can include a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range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(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Indicates where string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extraction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is to start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) 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Indicates where string 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extraction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is to end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84500" y="8407400"/>
            <a:ext cx="937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https://www.py4e.com/lectures3/Pythonlearn-11-Regex-Handout.txt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Regular Expression Module</a:t>
            </a:r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Before you can use regular expressions in your program, you must import the library using “</a:t>
            </a: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import re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You can use </a:t>
            </a: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re.search()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to see if a string matches a regular expression, similar to using the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find() 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method for strings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You can use </a:t>
            </a: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re.findall()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to extract portions of a string that match your regular expression, similar to a combination of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find()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and slicing: 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var[5:10]</a:t>
            </a:r>
            <a:r>
              <a:rPr lang="en-US" sz="3600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Using </a:t>
            </a:r>
            <a:r>
              <a:rPr lang="en-US" sz="7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re.search()</a:t>
            </a: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Like </a:t>
            </a:r>
            <a:r>
              <a:rPr lang="en-US" sz="7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find()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8371600" y="3410950"/>
            <a:ext cx="7579499" cy="3852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import 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rgbClr val="00FF00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hand = open('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line =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line.rstrip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if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re.search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('From:', line)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print(line)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985838" y="3652600"/>
            <a:ext cx="6997186" cy="32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hand = open('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line =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line.rstrip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if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line.find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('From:')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&gt;= 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print(line)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>
            <a:spLocks noGrp="1"/>
          </p:cNvSpPr>
          <p:nvPr>
            <p:ph type="title"/>
          </p:nvPr>
        </p:nvSpPr>
        <p:spPr>
          <a:xfrm>
            <a:off x="912898" y="814388"/>
            <a:ext cx="14621325" cy="1725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Using </a:t>
            </a:r>
            <a:r>
              <a:rPr lang="en-US" sz="7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re.search()</a:t>
            </a: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Like </a:t>
            </a:r>
            <a:r>
              <a:rPr lang="en-US" sz="7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startswith()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7881325" y="3120650"/>
            <a:ext cx="7895700" cy="341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import 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rgbClr val="00FF00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hand = open('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line =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line.rstrip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if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re.search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From:', line)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print(line)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682250" y="3305150"/>
            <a:ext cx="8364000" cy="32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hand = open('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mbox-short.txt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line = </a:t>
            </a:r>
            <a:r>
              <a:rPr lang="en-US" sz="24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line.rstrip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if </a:t>
            </a:r>
            <a:r>
              <a:rPr lang="en-US" sz="24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line.startswith</a:t>
            </a:r>
            <a:r>
              <a:rPr lang="en-US" sz="24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('From:')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    print(line)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240550" y="7454900"/>
            <a:ext cx="157622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We fine-tune what is matched by adding special characters to the string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Wild-Card Characters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22565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dot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character matches any character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If you add the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asterisk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character, the character is </a:t>
            </a:r>
            <a:r>
              <a:rPr lang="en-US" sz="3600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any number of times</a:t>
            </a:r>
            <a:r>
              <a:rPr lang="en-US" sz="3600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1877019" y="5408975"/>
            <a:ext cx="95073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-Sieve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-DSPAM-Result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-DSPAM-Confidence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0.8475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-Content-Type-Message-Body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text/plain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11843075" y="6286475"/>
            <a:ext cx="30717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^</a:t>
            </a:r>
            <a:r>
              <a:rPr lang="en-US" sz="6000" b="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6000" b="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.</a:t>
            </a:r>
            <a:r>
              <a:rPr lang="en-US" sz="6000" b="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*</a:t>
            </a:r>
            <a:r>
              <a:rPr lang="en-US" sz="6000" b="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7351711" y="5143500"/>
            <a:ext cx="4962525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the start of the line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11277600" y="7785100"/>
            <a:ext cx="4818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any character</a:t>
            </a:r>
          </a:p>
        </p:txBody>
      </p:sp>
      <p:sp>
        <p:nvSpPr>
          <p:cNvPr id="287" name="Shape 287"/>
          <p:cNvSpPr txBox="1"/>
          <p:nvPr/>
        </p:nvSpPr>
        <p:spPr>
          <a:xfrm>
            <a:off x="13616000" y="4507637"/>
            <a:ext cx="2212800" cy="125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Many times</a:t>
            </a:r>
          </a:p>
        </p:txBody>
      </p:sp>
      <p:cxnSp>
        <p:nvCxnSpPr>
          <p:cNvPr id="288" name="Shape 288"/>
          <p:cNvCxnSpPr/>
          <p:nvPr/>
        </p:nvCxnSpPr>
        <p:spPr>
          <a:xfrm>
            <a:off x="13417487" y="7264500"/>
            <a:ext cx="81000" cy="590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9" name="Shape 289"/>
          <p:cNvCxnSpPr>
            <a:endCxn id="287" idx="2"/>
          </p:cNvCxnSpPr>
          <p:nvPr/>
        </p:nvCxnSpPr>
        <p:spPr>
          <a:xfrm rot="10800000" flipH="1">
            <a:off x="14122400" y="5765837"/>
            <a:ext cx="600000" cy="6060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90" name="Shape 290"/>
          <p:cNvCxnSpPr/>
          <p:nvPr/>
        </p:nvCxnSpPr>
        <p:spPr>
          <a:xfrm flipH="1" flipV="1">
            <a:off x="11277600" y="5601534"/>
            <a:ext cx="962561" cy="86368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Fine-Tuning Your Match</a:t>
            </a:r>
          </a:p>
        </p:txBody>
      </p:sp>
      <p:sp>
        <p:nvSpPr>
          <p:cNvPr id="304" name="Shape 30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150864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Depending on how </a:t>
            </a:r>
            <a:r>
              <a:rPr lang="en-US" sz="3600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clean</a:t>
            </a:r>
            <a:r>
              <a:rPr lang="en-US" sz="3600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your data is and the purpose of your application, you may want to narrow your match down a bit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1247775" y="5460627"/>
            <a:ext cx="87963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-Sieve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-DSPAM-Result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A00"/>
                </a:solidFill>
                <a:latin typeface="Courier"/>
                <a:ea typeface="Courier New"/>
                <a:cs typeface="Courier"/>
                <a:sym typeface="Courier New"/>
              </a:rPr>
              <a:t>-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Plane is behind schedule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two weeks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3000" dirty="0">
                <a:solidFill>
                  <a:srgbClr val="00FA00"/>
                </a:solidFill>
                <a:latin typeface="Courier"/>
                <a:ea typeface="Courier New"/>
                <a:cs typeface="Courier"/>
                <a:sym typeface="Courier New"/>
              </a:rPr>
              <a:t>-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Very short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</p:txBody>
      </p:sp>
      <p:sp>
        <p:nvSpPr>
          <p:cNvPr id="297" name="Shape 297"/>
          <p:cNvSpPr txBox="1"/>
          <p:nvPr/>
        </p:nvSpPr>
        <p:spPr>
          <a:xfrm>
            <a:off x="12074525" y="6286500"/>
            <a:ext cx="30717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^</a:t>
            </a:r>
            <a:r>
              <a:rPr lang="en-US" sz="6000" b="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</a:t>
            </a:r>
            <a:r>
              <a:rPr lang="en-US" sz="6000" b="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.</a:t>
            </a:r>
            <a:r>
              <a:rPr lang="en-US" sz="6000" b="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*</a:t>
            </a:r>
            <a:r>
              <a:rPr lang="en-US" sz="6000" b="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</a:t>
            </a:r>
          </a:p>
        </p:txBody>
      </p:sp>
      <p:sp>
        <p:nvSpPr>
          <p:cNvPr id="298" name="Shape 298"/>
          <p:cNvSpPr txBox="1"/>
          <p:nvPr/>
        </p:nvSpPr>
        <p:spPr>
          <a:xfrm>
            <a:off x="8728389" y="4999353"/>
            <a:ext cx="3619021" cy="12871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the start of the line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11277600" y="7785100"/>
            <a:ext cx="4818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any character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13616000" y="4507637"/>
            <a:ext cx="2212800" cy="125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Many times</a:t>
            </a:r>
          </a:p>
        </p:txBody>
      </p:sp>
      <p:cxnSp>
        <p:nvCxnSpPr>
          <p:cNvPr id="301" name="Shape 301"/>
          <p:cNvCxnSpPr/>
          <p:nvPr/>
        </p:nvCxnSpPr>
        <p:spPr>
          <a:xfrm>
            <a:off x="13646087" y="7264500"/>
            <a:ext cx="81000" cy="590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2" name="Shape 302"/>
          <p:cNvCxnSpPr>
            <a:endCxn id="300" idx="2"/>
          </p:cNvCxnSpPr>
          <p:nvPr/>
        </p:nvCxnSpPr>
        <p:spPr>
          <a:xfrm rot="10800000" flipH="1">
            <a:off x="14122400" y="5765837"/>
            <a:ext cx="600000" cy="6060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3" name="Shape 303"/>
          <p:cNvCxnSpPr/>
          <p:nvPr/>
        </p:nvCxnSpPr>
        <p:spPr>
          <a:xfrm rot="10800000">
            <a:off x="11615674" y="5797499"/>
            <a:ext cx="982800" cy="6324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Fine-Tuning Your Match</a:t>
            </a:r>
          </a:p>
        </p:txBody>
      </p:sp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1562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Depending on how 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clean</a:t>
            </a:r>
            <a:r>
              <a:rPr lang="en-US" sz="360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your data is and the purpose of your application, you may want to narrow your match down a bit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1247775" y="4654550"/>
            <a:ext cx="8781600" cy="29930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X-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Sieve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CMU Sieve 2.3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X-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DSPAM-Result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Innocent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X-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: Very Short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X-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Plane is behind schedule: two weeks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11690350" y="6286500"/>
            <a:ext cx="3259500" cy="97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^</a:t>
            </a:r>
            <a:r>
              <a:rPr lang="en-US" sz="6000" b="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X-</a:t>
            </a:r>
            <a:r>
              <a:rPr lang="en-US" sz="6000" b="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</a:t>
            </a:r>
            <a:r>
              <a:rPr lang="en-US" sz="6000" b="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+</a:t>
            </a:r>
            <a:r>
              <a:rPr lang="en-US" sz="6000" b="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8248152" y="4941550"/>
            <a:ext cx="3885819" cy="11953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the start of the line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7529513" y="7651745"/>
            <a:ext cx="8267697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any non-whitespace character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13065125" y="4654550"/>
            <a:ext cx="30607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One or more times</a:t>
            </a:r>
          </a:p>
        </p:txBody>
      </p:sp>
      <p:cxnSp>
        <p:nvCxnSpPr>
          <p:cNvPr id="316" name="Shape 316"/>
          <p:cNvCxnSpPr>
            <a:stCxn id="312" idx="2"/>
          </p:cNvCxnSpPr>
          <p:nvPr/>
        </p:nvCxnSpPr>
        <p:spPr>
          <a:xfrm flipH="1">
            <a:off x="13065125" y="7264500"/>
            <a:ext cx="254975" cy="387245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7" name="Shape 317"/>
          <p:cNvCxnSpPr/>
          <p:nvPr/>
        </p:nvCxnSpPr>
        <p:spPr>
          <a:xfrm rot="10800000" flipH="1">
            <a:off x="14313179" y="5797550"/>
            <a:ext cx="357000" cy="6324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8" name="Shape 318"/>
          <p:cNvCxnSpPr/>
          <p:nvPr/>
        </p:nvCxnSpPr>
        <p:spPr>
          <a:xfrm rot="10800000">
            <a:off x="11583720" y="5797550"/>
            <a:ext cx="285750" cy="528637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xfrm>
            <a:off x="832707" y="794703"/>
            <a:ext cx="13932000" cy="1725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Matching and Extracting Data</a:t>
            </a:r>
          </a:p>
        </p:txBody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29400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re.search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returns a True/False depending on whether the string matches  the regular expression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If we actually want the matching strings to be extracted, we use </a:t>
            </a:r>
            <a:r>
              <a:rPr lang="en-US" sz="3600" u="none" strike="noStrike" cap="none" dirty="0" err="1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re.findall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()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6378625" y="5382026"/>
            <a:ext cx="10330799" cy="2462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x = 'My 2 favorite numbers are 19 and 42'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[0-9]+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['2', '19', '42']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1798638" y="5699125"/>
            <a:ext cx="2772299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[0-9]+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1003300" y="7286625"/>
            <a:ext cx="4154488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One or more digits</a:t>
            </a:r>
          </a:p>
        </p:txBody>
      </p:sp>
      <p:cxnSp>
        <p:nvCxnSpPr>
          <p:cNvPr id="328" name="Shape 328"/>
          <p:cNvCxnSpPr/>
          <p:nvPr/>
        </p:nvCxnSpPr>
        <p:spPr>
          <a:xfrm>
            <a:off x="3168650" y="6629400"/>
            <a:ext cx="81000" cy="5906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Matching and Extracting Data</a:t>
            </a:r>
          </a:p>
        </p:txBody>
      </p:sp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153758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When we use </a:t>
            </a:r>
            <a:r>
              <a:rPr lang="en-US" sz="3600" u="none" strike="noStrike" cap="none" dirty="0" err="1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re.findall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, it returns a list of zero or more sub-strings that match the regular expression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3120200" y="4378428"/>
            <a:ext cx="11680500" cy="3575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x = 'My 2 favorite numbers are 19 and 42'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[0-9]+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['2', '19', '42']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[AEIOU]+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[]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Warning: </a:t>
            </a:r>
            <a:r>
              <a:rPr lang="en-US" sz="7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Greedy</a:t>
            </a: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Matching</a:t>
            </a:r>
          </a:p>
        </p:txBody>
      </p:sp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760839" y="2603500"/>
            <a:ext cx="13932000" cy="156527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378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repeat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characters (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*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and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+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) push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outward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in both directions (greedy) to match the largest possible string</a:t>
            </a:r>
          </a:p>
        </p:txBody>
      </p:sp>
      <p:sp>
        <p:nvSpPr>
          <p:cNvPr id="342" name="Shape 342"/>
          <p:cNvSpPr txBox="1"/>
          <p:nvPr/>
        </p:nvSpPr>
        <p:spPr>
          <a:xfrm>
            <a:off x="987425" y="4168770"/>
            <a:ext cx="10033000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x = 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From: Using the 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character'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^F.+: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 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From: Using the 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343" name="Shape 343"/>
          <p:cNvSpPr txBox="1"/>
          <p:nvPr/>
        </p:nvSpPr>
        <p:spPr>
          <a:xfrm>
            <a:off x="10909300" y="5153020"/>
            <a:ext cx="2588999" cy="102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000" b="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^F</a:t>
            </a:r>
            <a:r>
              <a:rPr lang="en-US" sz="6000" b="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.+</a:t>
            </a:r>
            <a:r>
              <a:rPr lang="en-US" sz="6000" b="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11757025" y="3425820"/>
            <a:ext cx="3238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One or more characters</a:t>
            </a:r>
          </a:p>
        </p:txBody>
      </p:sp>
      <p:cxnSp>
        <p:nvCxnSpPr>
          <p:cNvPr id="345" name="Shape 345"/>
          <p:cNvCxnSpPr/>
          <p:nvPr/>
        </p:nvCxnSpPr>
        <p:spPr>
          <a:xfrm rot="10800000" flipH="1">
            <a:off x="12652975" y="4568819"/>
            <a:ext cx="799499" cy="7938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6" name="Shape 346"/>
          <p:cNvSpPr txBox="1"/>
          <p:nvPr/>
        </p:nvSpPr>
        <p:spPr>
          <a:xfrm>
            <a:off x="7289800" y="7051670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First character in the match is an F</a:t>
            </a:r>
          </a:p>
        </p:txBody>
      </p:sp>
      <p:cxnSp>
        <p:nvCxnSpPr>
          <p:cNvPr id="347" name="Shape 347"/>
          <p:cNvCxnSpPr/>
          <p:nvPr/>
        </p:nvCxnSpPr>
        <p:spPr>
          <a:xfrm flipH="1">
            <a:off x="10757590" y="6183306"/>
            <a:ext cx="514499" cy="9350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8" name="Shape 348"/>
          <p:cNvSpPr txBox="1"/>
          <p:nvPr/>
        </p:nvSpPr>
        <p:spPr>
          <a:xfrm>
            <a:off x="11785600" y="7064370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Last character in the match is a </a:t>
            </a:r>
            <a:r>
              <a:rPr lang="en-US" sz="3600" b="1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:</a:t>
            </a:r>
          </a:p>
        </p:txBody>
      </p:sp>
      <p:cxnSp>
        <p:nvCxnSpPr>
          <p:cNvPr id="349" name="Shape 349"/>
          <p:cNvCxnSpPr/>
          <p:nvPr/>
        </p:nvCxnSpPr>
        <p:spPr>
          <a:xfrm>
            <a:off x="13004875" y="6073845"/>
            <a:ext cx="863400" cy="9905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50" name="Shape 350"/>
          <p:cNvSpPr txBox="1"/>
          <p:nvPr/>
        </p:nvSpPr>
        <p:spPr>
          <a:xfrm>
            <a:off x="1155696" y="7359720"/>
            <a:ext cx="4030200" cy="552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Why not 'From:'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00FF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Non-Greedy</a:t>
            </a: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Matching</a:t>
            </a:r>
          </a:p>
        </p:txBody>
      </p:sp>
      <p:sp>
        <p:nvSpPr>
          <p:cNvPr id="356" name="Shape 356"/>
          <p:cNvSpPr txBox="1">
            <a:spLocks noGrp="1"/>
          </p:cNvSpPr>
          <p:nvPr>
            <p:ph type="body" idx="1"/>
          </p:nvPr>
        </p:nvSpPr>
        <p:spPr>
          <a:xfrm>
            <a:off x="899574" y="2581469"/>
            <a:ext cx="11160599" cy="152690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378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Not all regular expression repeat codes are greedy!  If you add a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?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character, the + and * chill out a bit...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987425" y="4597400"/>
            <a:ext cx="10033000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x = '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From: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Using the : character'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^F.+?: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 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From: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10833100" y="5281604"/>
            <a:ext cx="2966399" cy="102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000" b="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^F</a:t>
            </a:r>
            <a:r>
              <a:rPr lang="en-US" sz="6000" b="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.+?</a:t>
            </a:r>
            <a:r>
              <a:rPr lang="en-US" sz="60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: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12747625" y="3344854"/>
            <a:ext cx="32384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One or more characters but not greedy</a:t>
            </a:r>
          </a:p>
        </p:txBody>
      </p:sp>
      <p:cxnSp>
        <p:nvCxnSpPr>
          <p:cNvPr id="360" name="Shape 360"/>
          <p:cNvCxnSpPr>
            <a:stCxn id="358" idx="0"/>
          </p:cNvCxnSpPr>
          <p:nvPr/>
        </p:nvCxnSpPr>
        <p:spPr>
          <a:xfrm rot="10800000" flipH="1">
            <a:off x="12316299" y="4472204"/>
            <a:ext cx="547800" cy="809400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1" name="Shape 361"/>
          <p:cNvSpPr txBox="1"/>
          <p:nvPr/>
        </p:nvSpPr>
        <p:spPr>
          <a:xfrm>
            <a:off x="7289800" y="7180254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First character in the match is an F</a:t>
            </a:r>
          </a:p>
        </p:txBody>
      </p:sp>
      <p:cxnSp>
        <p:nvCxnSpPr>
          <p:cNvPr id="362" name="Shape 362"/>
          <p:cNvCxnSpPr/>
          <p:nvPr/>
        </p:nvCxnSpPr>
        <p:spPr>
          <a:xfrm flipH="1">
            <a:off x="10644036" y="6311890"/>
            <a:ext cx="514499" cy="9350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3" name="Shape 363"/>
          <p:cNvSpPr txBox="1"/>
          <p:nvPr/>
        </p:nvSpPr>
        <p:spPr>
          <a:xfrm>
            <a:off x="11785600" y="7192954"/>
            <a:ext cx="4165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Last character in the match is a </a:t>
            </a:r>
            <a:r>
              <a:rPr lang="en-US" sz="3600" b="1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:</a:t>
            </a:r>
          </a:p>
        </p:txBody>
      </p:sp>
      <p:cxnSp>
        <p:nvCxnSpPr>
          <p:cNvPr id="364" name="Shape 364"/>
          <p:cNvCxnSpPr>
            <a:endCxn id="363" idx="0"/>
          </p:cNvCxnSpPr>
          <p:nvPr/>
        </p:nvCxnSpPr>
        <p:spPr>
          <a:xfrm>
            <a:off x="13483749" y="6217054"/>
            <a:ext cx="384600" cy="975900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Fine</a:t>
            </a:r>
            <a:r>
              <a:rPr lang="en-US" sz="760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-</a:t>
            </a: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Tuning String Extraction</a:t>
            </a:r>
          </a:p>
        </p:txBody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164298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You can refine the match for </a:t>
            </a:r>
            <a:r>
              <a:rPr lang="en-US" u="none" strike="noStrike" cap="none" dirty="0" err="1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re.findall</a:t>
            </a:r>
            <a:r>
              <a:rPr lang="en-US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() </a:t>
            </a:r>
            <a:r>
              <a:rPr lang="en-US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and separately determine which portion of the match is to be extracted by using parenthes</a:t>
            </a:r>
            <a:r>
              <a:rPr lang="en-US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</a:t>
            </a:r>
            <a:r>
              <a:rPr lang="en-US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959775" y="3924386"/>
            <a:ext cx="14409602" cy="673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1670718" y="5141017"/>
            <a:ext cx="11107074" cy="1945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\S+@\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S+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’]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11945942" y="4878481"/>
            <a:ext cx="3238499" cy="92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700" b="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\S+</a:t>
            </a:r>
            <a:r>
              <a:rPr lang="en-US" sz="570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@</a:t>
            </a:r>
            <a:r>
              <a:rPr lang="en-US" sz="5700" b="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\S+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11930067" y="6640506"/>
            <a:ext cx="32384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At least one non-whitespace character</a:t>
            </a:r>
          </a:p>
        </p:txBody>
      </p:sp>
      <p:cxnSp>
        <p:nvCxnSpPr>
          <p:cNvPr id="375" name="Shape 375"/>
          <p:cNvCxnSpPr/>
          <p:nvPr/>
        </p:nvCxnSpPr>
        <p:spPr>
          <a:xfrm>
            <a:off x="12733342" y="5881681"/>
            <a:ext cx="177900" cy="6890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6" name="Shape 376"/>
          <p:cNvCxnSpPr/>
          <p:nvPr/>
        </p:nvCxnSpPr>
        <p:spPr>
          <a:xfrm flipH="1">
            <a:off x="14117504" y="5819767"/>
            <a:ext cx="182699" cy="8348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Fine</a:t>
            </a:r>
            <a:r>
              <a:rPr lang="en-US" sz="760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-</a:t>
            </a: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Tuning String Extraction</a:t>
            </a:r>
          </a:p>
        </p:txBody>
      </p:sp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134564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Parenthes</a:t>
            </a:r>
            <a:r>
              <a:rPr lang="en-US" sz="3600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are not part of the match - but they tell where to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start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and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stop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what string to extract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320800" y="4184650"/>
            <a:ext cx="13666800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10377800" y="5581650"/>
            <a:ext cx="6068700" cy="926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^From</a:t>
            </a:r>
            <a:r>
              <a:rPr lang="en-US" sz="4800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\S+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@</a:t>
            </a: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\S+</a:t>
            </a:r>
            <a:r>
              <a:rPr lang="en-US" sz="48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</p:txBody>
      </p:sp>
      <p:cxnSp>
        <p:nvCxnSpPr>
          <p:cNvPr id="385" name="Shape 385"/>
          <p:cNvCxnSpPr/>
          <p:nvPr/>
        </p:nvCxnSpPr>
        <p:spPr>
          <a:xfrm>
            <a:off x="12931237" y="6634150"/>
            <a:ext cx="177900" cy="6890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6" name="Shape 386"/>
          <p:cNvCxnSpPr/>
          <p:nvPr/>
        </p:nvCxnSpPr>
        <p:spPr>
          <a:xfrm flipH="1">
            <a:off x="15337812" y="6561199"/>
            <a:ext cx="182699" cy="8348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7" name="Shape 387"/>
          <p:cNvSpPr txBox="1"/>
          <p:nvPr/>
        </p:nvSpPr>
        <p:spPr>
          <a:xfrm>
            <a:off x="786416" y="5120500"/>
            <a:ext cx="9100209" cy="3027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\S+@\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S+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^From (\S+@\S+)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Parsing Examples</a:t>
            </a:r>
            <a:r>
              <a:rPr lang="is-IS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79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 txBox="1"/>
          <p:nvPr/>
        </p:nvSpPr>
        <p:spPr>
          <a:xfrm>
            <a:off x="787475" y="3154351"/>
            <a:ext cx="15182700" cy="47837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'From </a:t>
            </a:r>
            <a:r>
              <a:rPr lang="en-US" sz="2800" i="0" u="none" strike="noStrike" cap="none" dirty="0" err="1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.find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'@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sppos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.find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' '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sppos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31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host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+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1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 :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sppos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print(</a:t>
            </a:r>
            <a:r>
              <a:rPr lang="en-US" sz="28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host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endParaRPr lang="en-US" sz="28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</p:txBody>
      </p:sp>
      <p:sp>
        <p:nvSpPr>
          <p:cNvPr id="393" name="Shape 393"/>
          <p:cNvSpPr txBox="1"/>
          <p:nvPr/>
        </p:nvSpPr>
        <p:spPr>
          <a:xfrm>
            <a:off x="330200" y="1835150"/>
            <a:ext cx="15582900" cy="673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From </a:t>
            </a:r>
            <a:r>
              <a:rPr lang="en-US" sz="36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</a:t>
            </a:r>
            <a:r>
              <a:rPr lang="en-US" sz="3600" i="0" u="none" strike="noStrike" cap="none" dirty="0" err="1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@</a:t>
            </a:r>
            <a:r>
              <a:rPr lang="en-US" sz="36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5950931" y="8255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21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8724900" y="8255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31</a:t>
            </a:r>
          </a:p>
        </p:txBody>
      </p:sp>
      <p:cxnSp>
        <p:nvCxnSpPr>
          <p:cNvPr id="396" name="Shape 396"/>
          <p:cNvCxnSpPr/>
          <p:nvPr/>
        </p:nvCxnSpPr>
        <p:spPr>
          <a:xfrm rot="10800000">
            <a:off x="6236681" y="1481137"/>
            <a:ext cx="19049" cy="373061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97" name="Shape 397"/>
          <p:cNvCxnSpPr/>
          <p:nvPr/>
        </p:nvCxnSpPr>
        <p:spPr>
          <a:xfrm rot="10800000">
            <a:off x="9004299" y="1485899"/>
            <a:ext cx="17461" cy="373061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98" name="Shape 398"/>
          <p:cNvCxnSpPr/>
          <p:nvPr/>
        </p:nvCxnSpPr>
        <p:spPr>
          <a:xfrm>
            <a:off x="6351587" y="2446336"/>
            <a:ext cx="2541587" cy="1904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99" name="Shape 399"/>
          <p:cNvSpPr txBox="1"/>
          <p:nvPr/>
        </p:nvSpPr>
        <p:spPr>
          <a:xfrm>
            <a:off x="10902069" y="4779647"/>
            <a:ext cx="4457700" cy="1892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1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Extracting a host name - using find and string slicing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Double Split Pattern</a:t>
            </a:r>
          </a:p>
        </p:txBody>
      </p:sp>
      <p:sp>
        <p:nvSpPr>
          <p:cNvPr id="405" name="Shape 40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167702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7321275" y="6326775"/>
            <a:ext cx="6981300" cy="48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6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['stephen.marquard', 'uct.ac.za']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1155700" y="4526525"/>
            <a:ext cx="133427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stephen.marquard@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1155700" y="5594000"/>
            <a:ext cx="6179100" cy="21590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words = 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line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.split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email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words[1]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pieces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email.split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('@')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pieces[1]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</p:txBody>
      </p:sp>
      <p:sp>
        <p:nvSpPr>
          <p:cNvPr id="409" name="Shape 409"/>
          <p:cNvSpPr txBox="1"/>
          <p:nvPr/>
        </p:nvSpPr>
        <p:spPr>
          <a:xfrm>
            <a:off x="7336425" y="5683325"/>
            <a:ext cx="6573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Arial"/>
              <a:buNone/>
            </a:pPr>
            <a:r>
              <a:rPr lang="en-US" sz="2600" i="0" u="none" strike="noStrike" cap="none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</a:p>
        </p:txBody>
      </p:sp>
      <p:sp>
        <p:nvSpPr>
          <p:cNvPr id="410" name="Shape 410"/>
          <p:cNvSpPr txBox="1"/>
          <p:nvPr/>
        </p:nvSpPr>
        <p:spPr>
          <a:xfrm>
            <a:off x="7301045" y="6843100"/>
            <a:ext cx="2729099" cy="54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2400" b="1" i="0" u="none" strike="noStrike" cap="non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6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 txBox="1"/>
          <p:nvPr/>
        </p:nvSpPr>
        <p:spPr>
          <a:xfrm>
            <a:off x="7035800" y="5822950"/>
            <a:ext cx="4386262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48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48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@</a:t>
            </a:r>
            <a:r>
              <a:rPr lang="en-US" sz="48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([^ ]*)'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2306622" y="7543800"/>
            <a:ext cx="10770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Look through the string until you find an at</a:t>
            </a:r>
            <a:r>
              <a:rPr lang="en-US" sz="3600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sign</a:t>
            </a:r>
          </a:p>
        </p:txBody>
      </p:sp>
      <p:cxnSp>
        <p:nvCxnSpPr>
          <p:cNvPr id="418" name="Shape 418"/>
          <p:cNvCxnSpPr/>
          <p:nvPr/>
        </p:nvCxnSpPr>
        <p:spPr>
          <a:xfrm flipH="1">
            <a:off x="7078661" y="6591300"/>
            <a:ext cx="530224" cy="99695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9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420" name="Shape 420"/>
          <p:cNvSpPr txBox="1"/>
          <p:nvPr/>
        </p:nvSpPr>
        <p:spPr>
          <a:xfrm>
            <a:off x="707596" y="3527296"/>
            <a:ext cx="14919049" cy="2596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'@([^ ]*)'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9" name="Shape 425"/>
          <p:cNvSpPr txBox="1">
            <a:spLocks noGrp="1"/>
          </p:cNvSpPr>
          <p:nvPr>
            <p:ph type="title"/>
          </p:nvPr>
        </p:nvSpPr>
        <p:spPr>
          <a:xfrm>
            <a:off x="1155700" y="814388"/>
            <a:ext cx="13932000" cy="1725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Regex Version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Regex Version</a:t>
            </a:r>
          </a:p>
        </p:txBody>
      </p:sp>
      <p:sp>
        <p:nvSpPr>
          <p:cNvPr id="426" name="Shape 426"/>
          <p:cNvSpPr txBox="1"/>
          <p:nvPr/>
        </p:nvSpPr>
        <p:spPr>
          <a:xfrm>
            <a:off x="7035800" y="5822950"/>
            <a:ext cx="4386262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'@(</a:t>
            </a:r>
            <a:r>
              <a:rPr lang="en-US" sz="5700" i="0" u="none" strike="noStrike" cap="none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[^ ]</a:t>
            </a:r>
            <a:r>
              <a:rPr lang="en-US" sz="57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*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)'</a:t>
            </a:r>
          </a:p>
        </p:txBody>
      </p:sp>
      <p:sp>
        <p:nvSpPr>
          <p:cNvPr id="427" name="Shape 427"/>
          <p:cNvSpPr txBox="1"/>
          <p:nvPr/>
        </p:nvSpPr>
        <p:spPr>
          <a:xfrm>
            <a:off x="4343749" y="7594600"/>
            <a:ext cx="61256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non-blank character</a:t>
            </a:r>
          </a:p>
        </p:txBody>
      </p:sp>
      <p:cxnSp>
        <p:nvCxnSpPr>
          <p:cNvPr id="428" name="Shape 428"/>
          <p:cNvCxnSpPr/>
          <p:nvPr/>
        </p:nvCxnSpPr>
        <p:spPr>
          <a:xfrm>
            <a:off x="8707436" y="6708775"/>
            <a:ext cx="576300" cy="10017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9" name="Shape 429"/>
          <p:cNvCxnSpPr/>
          <p:nvPr/>
        </p:nvCxnSpPr>
        <p:spPr>
          <a:xfrm>
            <a:off x="10431461" y="6672261"/>
            <a:ext cx="747105" cy="949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30" name="Shape 430"/>
          <p:cNvCxnSpPr/>
          <p:nvPr/>
        </p:nvCxnSpPr>
        <p:spPr>
          <a:xfrm flipH="1">
            <a:off x="9342511" y="6702425"/>
            <a:ext cx="447600" cy="976199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31" name="Shape 431"/>
          <p:cNvSpPr txBox="1"/>
          <p:nvPr/>
        </p:nvSpPr>
        <p:spPr>
          <a:xfrm>
            <a:off x="10272696" y="7594600"/>
            <a:ext cx="4923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many of them</a:t>
            </a:r>
          </a:p>
        </p:txBody>
      </p:sp>
      <p:sp>
        <p:nvSpPr>
          <p:cNvPr id="12" name="Shape 420"/>
          <p:cNvSpPr txBox="1"/>
          <p:nvPr/>
        </p:nvSpPr>
        <p:spPr>
          <a:xfrm>
            <a:off x="707596" y="3529457"/>
            <a:ext cx="14919049" cy="2596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'@([^ ]*)'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11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The Regex Version</a:t>
            </a:r>
          </a:p>
        </p:txBody>
      </p:sp>
      <p:sp>
        <p:nvSpPr>
          <p:cNvPr id="439" name="Shape 439"/>
          <p:cNvSpPr txBox="1"/>
          <p:nvPr/>
        </p:nvSpPr>
        <p:spPr>
          <a:xfrm>
            <a:off x="7035800" y="5822950"/>
            <a:ext cx="4386262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'@</a:t>
            </a:r>
            <a:r>
              <a:rPr lang="en-US" sz="57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[^ ]*</a:t>
            </a:r>
            <a:r>
              <a:rPr lang="en-US" sz="57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</a:p>
        </p:txBody>
      </p:sp>
      <p:sp>
        <p:nvSpPr>
          <p:cNvPr id="440" name="Shape 440"/>
          <p:cNvSpPr txBox="1"/>
          <p:nvPr/>
        </p:nvSpPr>
        <p:spPr>
          <a:xfrm>
            <a:off x="7823275" y="7620000"/>
            <a:ext cx="76344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Extract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the non-blank characters</a:t>
            </a:r>
          </a:p>
        </p:txBody>
      </p:sp>
      <p:cxnSp>
        <p:nvCxnSpPr>
          <p:cNvPr id="441" name="Shape 441"/>
          <p:cNvCxnSpPr/>
          <p:nvPr/>
        </p:nvCxnSpPr>
        <p:spPr>
          <a:xfrm>
            <a:off x="8340725" y="6692900"/>
            <a:ext cx="793749" cy="915986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2" name="Shape 442"/>
          <p:cNvCxnSpPr/>
          <p:nvPr/>
        </p:nvCxnSpPr>
        <p:spPr>
          <a:xfrm flipH="1">
            <a:off x="9621836" y="6734175"/>
            <a:ext cx="895349" cy="91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1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13" name="Shape 420"/>
          <p:cNvSpPr txBox="1"/>
          <p:nvPr/>
        </p:nvSpPr>
        <p:spPr>
          <a:xfrm>
            <a:off x="707596" y="3529457"/>
            <a:ext cx="14919049" cy="2596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'@([^ ]*)'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Even Cooler Regex Version</a:t>
            </a:r>
          </a:p>
        </p:txBody>
      </p:sp>
      <p:sp>
        <p:nvSpPr>
          <p:cNvPr id="450" name="Shape 450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57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^</a:t>
            </a:r>
            <a:r>
              <a:rPr lang="en-US" sz="5700" i="0" u="none" strike="noStrike" cap="none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From 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.*@([^ ]*)'</a:t>
            </a:r>
          </a:p>
        </p:txBody>
      </p:sp>
      <p:sp>
        <p:nvSpPr>
          <p:cNvPr id="451" name="Shape 451"/>
          <p:cNvSpPr txBox="1"/>
          <p:nvPr/>
        </p:nvSpPr>
        <p:spPr>
          <a:xfrm>
            <a:off x="1775792" y="7719599"/>
            <a:ext cx="13736668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Starting at the beginning of the line,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look for the string 'From ' </a:t>
            </a:r>
          </a:p>
        </p:txBody>
      </p:sp>
      <p:cxnSp>
        <p:nvCxnSpPr>
          <p:cNvPr id="452" name="Shape 452"/>
          <p:cNvCxnSpPr/>
          <p:nvPr/>
        </p:nvCxnSpPr>
        <p:spPr>
          <a:xfrm flipH="1">
            <a:off x="7035800" y="6591300"/>
            <a:ext cx="674686" cy="1128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53" name="Shape 453"/>
          <p:cNvCxnSpPr/>
          <p:nvPr/>
        </p:nvCxnSpPr>
        <p:spPr>
          <a:xfrm>
            <a:off x="9052292" y="6656988"/>
            <a:ext cx="1206588" cy="1062611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11" name="Shape 466"/>
          <p:cNvSpPr txBox="1"/>
          <p:nvPr/>
        </p:nvSpPr>
        <p:spPr>
          <a:xfrm>
            <a:off x="707596" y="3432292"/>
            <a:ext cx="14983146" cy="2814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^From .*@([^ ]*)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Even Cooler Regex Version</a:t>
            </a:r>
          </a:p>
        </p:txBody>
      </p:sp>
      <p:sp>
        <p:nvSpPr>
          <p:cNvPr id="461" name="Shape 461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'^From </a:t>
            </a:r>
            <a:r>
              <a:rPr lang="en-US" sz="57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.*</a:t>
            </a:r>
            <a:r>
              <a:rPr lang="en-US" sz="5700" i="0" u="none" strike="noStrike" cap="none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@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([^ ]*)'</a:t>
            </a:r>
          </a:p>
        </p:txBody>
      </p:sp>
      <p:sp>
        <p:nvSpPr>
          <p:cNvPr id="462" name="Shape 462"/>
          <p:cNvSpPr txBox="1"/>
          <p:nvPr/>
        </p:nvSpPr>
        <p:spPr>
          <a:xfrm>
            <a:off x="4709077" y="7662862"/>
            <a:ext cx="117983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Skip a bunch of characters,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looking for an at</a:t>
            </a:r>
            <a:r>
              <a:rPr lang="en-US" sz="3600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sign</a:t>
            </a:r>
          </a:p>
        </p:txBody>
      </p:sp>
      <p:cxnSp>
        <p:nvCxnSpPr>
          <p:cNvPr id="463" name="Shape 463"/>
          <p:cNvCxnSpPr/>
          <p:nvPr/>
        </p:nvCxnSpPr>
        <p:spPr>
          <a:xfrm flipH="1">
            <a:off x="10204174" y="6629400"/>
            <a:ext cx="236812" cy="103346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4" name="Shape 464"/>
          <p:cNvCxnSpPr/>
          <p:nvPr/>
        </p:nvCxnSpPr>
        <p:spPr>
          <a:xfrm>
            <a:off x="11352211" y="6651625"/>
            <a:ext cx="415719" cy="1322386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66" name="Shape 466"/>
          <p:cNvSpPr txBox="1"/>
          <p:nvPr/>
        </p:nvSpPr>
        <p:spPr>
          <a:xfrm>
            <a:off x="707596" y="3432292"/>
            <a:ext cx="14983146" cy="2814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^From .*@([^ ]*)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10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Even Cooler Regex Version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b="1" i="0" u="none" strike="noStrike" cap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'^From .*@</a:t>
            </a:r>
            <a:r>
              <a:rPr lang="en-US" sz="5700" b="1" i="0" u="none" strike="noStrike" cap="non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5700" b="1" i="0" u="none" strike="noStrike" cap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[^ ]*)'</a:t>
            </a:r>
          </a:p>
        </p:txBody>
      </p:sp>
      <p:sp>
        <p:nvSpPr>
          <p:cNvPr id="473" name="Shape 473"/>
          <p:cNvSpPr txBox="1"/>
          <p:nvPr/>
        </p:nvSpPr>
        <p:spPr>
          <a:xfrm>
            <a:off x="7401025" y="8062475"/>
            <a:ext cx="7896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Start extracting</a:t>
            </a:r>
          </a:p>
        </p:txBody>
      </p:sp>
      <p:cxnSp>
        <p:nvCxnSpPr>
          <p:cNvPr id="474" name="Shape 474"/>
          <p:cNvCxnSpPr/>
          <p:nvPr/>
        </p:nvCxnSpPr>
        <p:spPr>
          <a:xfrm flipH="1">
            <a:off x="11367986" y="6705600"/>
            <a:ext cx="330300" cy="13445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11" name="Shape 466"/>
          <p:cNvSpPr txBox="1"/>
          <p:nvPr/>
        </p:nvSpPr>
        <p:spPr>
          <a:xfrm>
            <a:off x="707596" y="3432292"/>
            <a:ext cx="14983146" cy="2814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'From 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stephen.marquard@uct.ac.za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y = 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re.findall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^From .*@([^ ]*)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b="1" i="0" u="none" strike="noStrike" cap="none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4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Even Cooler Regex Version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'^From .*@(</a:t>
            </a:r>
            <a:r>
              <a:rPr lang="en-US" sz="57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[^ ]</a:t>
            </a:r>
            <a:r>
              <a:rPr lang="en-US" sz="57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+</a:t>
            </a:r>
            <a:r>
              <a:rPr lang="en-US" sz="57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)'</a:t>
            </a:r>
          </a:p>
        </p:txBody>
      </p:sp>
      <p:sp>
        <p:nvSpPr>
          <p:cNvPr id="483" name="Shape 483"/>
          <p:cNvSpPr txBox="1"/>
          <p:nvPr/>
        </p:nvSpPr>
        <p:spPr>
          <a:xfrm>
            <a:off x="5998523" y="7734300"/>
            <a:ext cx="5601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</a:t>
            </a: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FF00FF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non-blank character</a:t>
            </a:r>
          </a:p>
        </p:txBody>
      </p:sp>
      <p:cxnSp>
        <p:nvCxnSpPr>
          <p:cNvPr id="484" name="Shape 484"/>
          <p:cNvCxnSpPr/>
          <p:nvPr/>
        </p:nvCxnSpPr>
        <p:spPr>
          <a:xfrm flipH="1">
            <a:off x="11175999" y="6651625"/>
            <a:ext cx="868362" cy="1122361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5" name="Shape 485"/>
          <p:cNvCxnSpPr/>
          <p:nvPr/>
        </p:nvCxnSpPr>
        <p:spPr>
          <a:xfrm flipH="1">
            <a:off x="13849287" y="6632575"/>
            <a:ext cx="20699" cy="11555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6" name="Shape 486"/>
          <p:cNvCxnSpPr/>
          <p:nvPr/>
        </p:nvCxnSpPr>
        <p:spPr>
          <a:xfrm flipH="1">
            <a:off x="11234736" y="6651625"/>
            <a:ext cx="1989136" cy="1090612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7" name="Shape 487"/>
          <p:cNvSpPr txBox="1"/>
          <p:nvPr/>
        </p:nvSpPr>
        <p:spPr>
          <a:xfrm>
            <a:off x="11697723" y="7734300"/>
            <a:ext cx="43821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Match many of them</a:t>
            </a:r>
          </a:p>
        </p:txBody>
      </p:sp>
      <p:sp>
        <p:nvSpPr>
          <p:cNvPr id="11" name="Shape 466"/>
          <p:cNvSpPr txBox="1"/>
          <p:nvPr/>
        </p:nvSpPr>
        <p:spPr>
          <a:xfrm>
            <a:off x="707596" y="3432292"/>
            <a:ext cx="14983146" cy="2814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^From .*@([^ ]*)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13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b="1" i="0" u="none" strike="noStrike" cap="none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stephen.marquard@</a:t>
            </a:r>
            <a:r>
              <a:rPr lang="en-US" sz="3000" b="1" i="0" u="none" strike="noStrike" cap="non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  <a:r>
              <a:rPr lang="en-US" sz="3000" b="1" i="0" u="none" strike="noStrike" cap="none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Sat Jan  5 09:14:16 2008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Even Cooler Regex Version</a:t>
            </a:r>
          </a:p>
        </p:txBody>
      </p:sp>
      <p:sp>
        <p:nvSpPr>
          <p:cNvPr id="495" name="Shape 495"/>
          <p:cNvSpPr txBox="1"/>
          <p:nvPr/>
        </p:nvSpPr>
        <p:spPr>
          <a:xfrm>
            <a:off x="7035800" y="5822950"/>
            <a:ext cx="7896225" cy="876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57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'^From 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.*@([^ ]+</a:t>
            </a:r>
            <a:r>
              <a:rPr lang="en-US" sz="57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  <a:r>
              <a:rPr lang="en-US" sz="5700" i="0" u="none" strike="noStrike" cap="none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endParaRPr lang="en-US" sz="5700" i="0" u="none" strike="noStrike" cap="none" dirty="0">
              <a:solidFill>
                <a:srgbClr val="FFFF00"/>
              </a:solidFill>
              <a:latin typeface="Courier"/>
              <a:ea typeface="Courier New"/>
              <a:cs typeface="Courier"/>
              <a:sym typeface="Courier New"/>
            </a:endParaRPr>
          </a:p>
        </p:txBody>
      </p:sp>
      <p:sp>
        <p:nvSpPr>
          <p:cNvPr id="496" name="Shape 496"/>
          <p:cNvSpPr txBox="1"/>
          <p:nvPr/>
        </p:nvSpPr>
        <p:spPr>
          <a:xfrm>
            <a:off x="11744325" y="8026400"/>
            <a:ext cx="43942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Stop extracting</a:t>
            </a:r>
          </a:p>
        </p:txBody>
      </p:sp>
      <p:cxnSp>
        <p:nvCxnSpPr>
          <p:cNvPr id="497" name="Shape 497"/>
          <p:cNvCxnSpPr/>
          <p:nvPr/>
        </p:nvCxnSpPr>
        <p:spPr>
          <a:xfrm flipH="1">
            <a:off x="13755687" y="6731000"/>
            <a:ext cx="330200" cy="134461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466"/>
          <p:cNvSpPr txBox="1"/>
          <p:nvPr/>
        </p:nvSpPr>
        <p:spPr>
          <a:xfrm>
            <a:off x="707596" y="3432292"/>
            <a:ext cx="14983146" cy="2814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'From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stephen.marquard@uct.ac.za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^From .*@([^ ]*)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10" name="Shape 419"/>
          <p:cNvSpPr txBox="1"/>
          <p:nvPr/>
        </p:nvSpPr>
        <p:spPr>
          <a:xfrm>
            <a:off x="707596" y="2689933"/>
            <a:ext cx="142265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From stephen.marquard@</a:t>
            </a:r>
            <a:r>
              <a:rPr lang="en-US" sz="3000" i="0" u="none" strike="noStrike" cap="none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uct.ac.za</a:t>
            </a:r>
            <a:r>
              <a:rPr lang="en-US" sz="3000" i="0" u="none" strike="noStrike" cap="none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 Sat Jan  5 09:14:16 2008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504"/>
          <p:cNvSpPr txBox="1">
            <a:spLocks noGrp="1"/>
          </p:cNvSpPr>
          <p:nvPr>
            <p:ph type="title"/>
          </p:nvPr>
        </p:nvSpPr>
        <p:spPr>
          <a:xfrm>
            <a:off x="2577835" y="520319"/>
            <a:ext cx="10850933" cy="1725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Spam Confidence</a:t>
            </a:r>
          </a:p>
        </p:txBody>
      </p:sp>
      <p:sp>
        <p:nvSpPr>
          <p:cNvPr id="505" name="Shape 505"/>
          <p:cNvSpPr txBox="1"/>
          <p:nvPr/>
        </p:nvSpPr>
        <p:spPr>
          <a:xfrm>
            <a:off x="656281" y="2245831"/>
            <a:ext cx="14587107" cy="4924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hand = open('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mbox-short.txt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numlist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list()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for line in 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line = 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line.rstrip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</a:t>
            </a:r>
            <a:r>
              <a:rPr lang="en-US" sz="300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stuff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</a:t>
            </a:r>
            <a:r>
              <a:rPr lang="en-US" sz="3000" u="none" strike="noStrike" cap="none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^X-DSPAM-Confidence: </a:t>
            </a:r>
            <a:r>
              <a:rPr lang="en-US" sz="300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[0-9.]+</a:t>
            </a:r>
            <a:r>
              <a:rPr lang="en-US" sz="300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 line)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if 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len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stuff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 != 1 :  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num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float(</a:t>
            </a:r>
            <a:r>
              <a:rPr lang="en-US" sz="300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stuff</a:t>
            </a:r>
            <a:r>
              <a:rPr lang="en-US" sz="3000" u="none" strike="noStrike" cap="none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[0]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   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numlist.append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num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print('Maximum:', max(</a:t>
            </a:r>
            <a:r>
              <a:rPr lang="en-US" sz="300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numlist</a:t>
            </a:r>
            <a:r>
              <a:rPr lang="en-US" sz="300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))</a:t>
            </a:r>
          </a:p>
        </p:txBody>
      </p:sp>
      <p:sp>
        <p:nvSpPr>
          <p:cNvPr id="506" name="Shape 506"/>
          <p:cNvSpPr txBox="1"/>
          <p:nvPr/>
        </p:nvSpPr>
        <p:spPr>
          <a:xfrm>
            <a:off x="11000028" y="6449888"/>
            <a:ext cx="4717199" cy="1200299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900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  <a:r>
              <a:rPr lang="en-US" sz="3900" u="none" strike="noStrike" cap="none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python </a:t>
            </a:r>
            <a:r>
              <a:rPr lang="en-US" sz="3900" u="none" strike="noStrike" cap="none" dirty="0" err="1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ds.py</a:t>
            </a:r>
            <a:r>
              <a:rPr lang="en-US" sz="3900" u="none" strike="noStrike" cap="none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900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</a:t>
            </a:r>
            <a:r>
              <a:rPr lang="en-US" sz="39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Maximum: 0.9907</a:t>
            </a:r>
          </a:p>
        </p:txBody>
      </p:sp>
      <p:sp>
        <p:nvSpPr>
          <p:cNvPr id="507" name="Shape 507"/>
          <p:cNvSpPr txBox="1"/>
          <p:nvPr/>
        </p:nvSpPr>
        <p:spPr>
          <a:xfrm>
            <a:off x="652449" y="7449711"/>
            <a:ext cx="10618799" cy="89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40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X-DSPAM-Confidence: 0.8475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 txBox="1">
            <a:spLocks noGrp="1"/>
          </p:cNvSpPr>
          <p:nvPr>
            <p:ph type="title"/>
          </p:nvPr>
        </p:nvSpPr>
        <p:spPr>
          <a:xfrm>
            <a:off x="1155700" y="646308"/>
            <a:ext cx="13932000" cy="1520052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Escape Character</a:t>
            </a:r>
          </a:p>
        </p:txBody>
      </p:sp>
      <p:sp>
        <p:nvSpPr>
          <p:cNvPr id="513" name="Shape 5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t" anchorCtr="0">
            <a:noAutofit/>
          </a:bodyPr>
          <a:lstStyle/>
          <a:p>
            <a:pPr marL="50152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If you want a special regular expression character to just behave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normally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 (most of the time) you prefix it with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'\'</a:t>
            </a:r>
          </a:p>
        </p:txBody>
      </p:sp>
      <p:sp>
        <p:nvSpPr>
          <p:cNvPr id="514" name="Shape 514"/>
          <p:cNvSpPr txBox="1"/>
          <p:nvPr/>
        </p:nvSpPr>
        <p:spPr>
          <a:xfrm>
            <a:off x="675335" y="4285139"/>
            <a:ext cx="10826100" cy="24052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import 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x = 'We just received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$10.00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for cookies.'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y =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re.findall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('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\$[0-9.]+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',x)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print(y)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['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$10.00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']</a:t>
            </a:r>
          </a:p>
        </p:txBody>
      </p:sp>
      <p:sp>
        <p:nvSpPr>
          <p:cNvPr id="515" name="Shape 515"/>
          <p:cNvSpPr txBox="1"/>
          <p:nvPr/>
        </p:nvSpPr>
        <p:spPr>
          <a:xfrm>
            <a:off x="11115376" y="6283188"/>
            <a:ext cx="3370173" cy="81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4900" i="0" u="none" strike="noStrike" cap="none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\$</a:t>
            </a:r>
            <a:r>
              <a:rPr lang="en-US" sz="4900" i="0" u="none" strike="noStrike" cap="none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[0-9.]</a:t>
            </a:r>
            <a:r>
              <a:rPr lang="en-US" sz="4900" i="0" u="none" strike="noStrike" cap="none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+</a:t>
            </a:r>
          </a:p>
        </p:txBody>
      </p:sp>
      <p:sp>
        <p:nvSpPr>
          <p:cNvPr id="516" name="Shape 516"/>
          <p:cNvSpPr txBox="1"/>
          <p:nvPr/>
        </p:nvSpPr>
        <p:spPr>
          <a:xfrm>
            <a:off x="12055272" y="7718288"/>
            <a:ext cx="3834085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rgbClr val="00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 digit or period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7354958" y="7654788"/>
            <a:ext cx="4019528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rgbClr val="FFF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 real dollar sign</a:t>
            </a:r>
          </a:p>
        </p:txBody>
      </p:sp>
      <p:cxnSp>
        <p:nvCxnSpPr>
          <p:cNvPr id="518" name="Shape 518"/>
          <p:cNvCxnSpPr/>
          <p:nvPr/>
        </p:nvCxnSpPr>
        <p:spPr>
          <a:xfrm flipH="1">
            <a:off x="11188837" y="7162663"/>
            <a:ext cx="312599" cy="4985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19" name="Shape 519"/>
          <p:cNvCxnSpPr/>
          <p:nvPr/>
        </p:nvCxnSpPr>
        <p:spPr>
          <a:xfrm>
            <a:off x="12503325" y="7061088"/>
            <a:ext cx="312599" cy="606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20" name="Shape 520"/>
          <p:cNvCxnSpPr/>
          <p:nvPr/>
        </p:nvCxnSpPr>
        <p:spPr>
          <a:xfrm flipH="1">
            <a:off x="13474698" y="7068788"/>
            <a:ext cx="85500" cy="6494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21" name="Shape 521"/>
          <p:cNvSpPr txBox="1"/>
          <p:nvPr/>
        </p:nvSpPr>
        <p:spPr>
          <a:xfrm>
            <a:off x="12869655" y="4276588"/>
            <a:ext cx="2838756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rgbClr val="FF7F00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At least one or more</a:t>
            </a:r>
          </a:p>
        </p:txBody>
      </p:sp>
      <p:cxnSp>
        <p:nvCxnSpPr>
          <p:cNvPr id="522" name="Shape 522"/>
          <p:cNvCxnSpPr/>
          <p:nvPr/>
        </p:nvCxnSpPr>
        <p:spPr>
          <a:xfrm flipH="1" flipV="1">
            <a:off x="14266859" y="5495787"/>
            <a:ext cx="5732" cy="787401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Summary</a:t>
            </a:r>
          </a:p>
        </p:txBody>
      </p:sp>
      <p:sp>
        <p:nvSpPr>
          <p:cNvPr id="528" name="Shape 52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4352053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expressions are a cryptic but powerful language for matching strings and extracting elements from those strings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 Regular" charset="0"/>
                <a:ea typeface="Arial Regular" charset="0"/>
                <a:cs typeface="Arial Regular" charset="0"/>
                <a:sym typeface="Cabin"/>
              </a:rPr>
              <a:t>Regular expressions have special characters that indicate intent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 txBox="1">
            <a:spLocks noGrp="1"/>
          </p:cNvSpPr>
          <p:nvPr>
            <p:ph type="title" idx="4294967295"/>
          </p:nvPr>
        </p:nvSpPr>
        <p:spPr>
          <a:xfrm>
            <a:off x="1462700" y="1009927"/>
            <a:ext cx="12469200" cy="81121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1206100" y="2150353"/>
            <a:ext cx="6797699" cy="53503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800" u="sng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80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… Insert new Contributors and Translations here</a:t>
            </a:r>
          </a:p>
        </p:txBody>
      </p:sp>
      <p:pic>
        <p:nvPicPr>
          <p:cNvPr id="536" name="Shape 5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900" y="903277"/>
            <a:ext cx="1024800" cy="10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Shape 5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97687" y="1081477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Shape 538"/>
          <p:cNvSpPr txBox="1"/>
          <p:nvPr/>
        </p:nvSpPr>
        <p:spPr>
          <a:xfrm>
            <a:off x="8704400" y="2280828"/>
            <a:ext cx="6797699" cy="521990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2356</TotalTime>
  <Words>2374</Words>
  <Application>Microsoft Office PowerPoint</Application>
  <PresentationFormat>Custom</PresentationFormat>
  <Paragraphs>300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Regular</vt:lpstr>
      <vt:lpstr>Cabin</vt:lpstr>
      <vt:lpstr>Courier</vt:lpstr>
      <vt:lpstr>Courier New</vt:lpstr>
      <vt:lpstr>Gill Sans</vt:lpstr>
      <vt:lpstr>Title &amp; Subtitle</vt:lpstr>
      <vt:lpstr>Regular Expressions</vt:lpstr>
      <vt:lpstr>Regular Expressions</vt:lpstr>
      <vt:lpstr>Regular Expressions</vt:lpstr>
      <vt:lpstr>PowerPoint Presentation</vt:lpstr>
      <vt:lpstr>Understanding Regular Expressions</vt:lpstr>
      <vt:lpstr>PowerPoint Presentation</vt:lpstr>
      <vt:lpstr>Regular Expression Quick Guide</vt:lpstr>
      <vt:lpstr>The Regular Expression Module</vt:lpstr>
      <vt:lpstr>Using re.search() Like find()</vt:lpstr>
      <vt:lpstr>Using re.search() Like startswith()</vt:lpstr>
      <vt:lpstr>Wild-Card Characters</vt:lpstr>
      <vt:lpstr>Fine-Tuning Your Match</vt:lpstr>
      <vt:lpstr>Fine-Tuning Your Match</vt:lpstr>
      <vt:lpstr>Matching and Extracting Data</vt:lpstr>
      <vt:lpstr>Matching and Extracting Data</vt:lpstr>
      <vt:lpstr>Warning: Greedy Matching</vt:lpstr>
      <vt:lpstr>Non-Greedy Matching</vt:lpstr>
      <vt:lpstr>Fine-Tuning String Extraction</vt:lpstr>
      <vt:lpstr>Fine-Tuning String Extraction</vt:lpstr>
      <vt:lpstr>String Parsing Examples…</vt:lpstr>
      <vt:lpstr>PowerPoint Presentation</vt:lpstr>
      <vt:lpstr>The Double Split Pattern</vt:lpstr>
      <vt:lpstr>The Regex Version</vt:lpstr>
      <vt:lpstr>The Regex Version</vt:lpstr>
      <vt:lpstr>The Regex Version</vt:lpstr>
      <vt:lpstr>Even Cooler Regex Version</vt:lpstr>
      <vt:lpstr>Even Cooler Regex Version</vt:lpstr>
      <vt:lpstr>Even Cooler Regex Version</vt:lpstr>
      <vt:lpstr>Even Cooler Regex Version</vt:lpstr>
      <vt:lpstr>Even Cooler Regex Version</vt:lpstr>
      <vt:lpstr>Spam Confidence</vt:lpstr>
      <vt:lpstr>Escape Character</vt:lpstr>
      <vt:lpstr>Summary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cp:lastModifiedBy>Prosenjit Chatterjee</cp:lastModifiedBy>
  <cp:revision>52</cp:revision>
  <dcterms:modified xsi:type="dcterms:W3CDTF">2024-03-04T14:12:18Z</dcterms:modified>
</cp:coreProperties>
</file>